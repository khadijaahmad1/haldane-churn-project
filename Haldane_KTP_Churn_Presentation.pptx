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50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4902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0851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5832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420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3524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694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6624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176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4010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09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762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514350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303520" y="0"/>
            <a:ext cx="1371600" cy="5143500"/>
          </a:xfrm>
          <a:prstGeom prst="rect">
            <a:avLst/>
          </a:prstGeom>
          <a:solidFill>
            <a:srgbClr val="162844">
              <a:alpha val="80000"/>
            </a:srgbClr>
          </a:solidFill>
          <a:ln w="12700">
            <a:solidFill>
              <a:srgbClr val="1628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88729" y="365492"/>
            <a:ext cx="2736447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F1F35"/>
                </a:solidFill>
              </a:rPr>
              <a:t>KTP ASSOCIATE RECRUITMENT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Analytics to Reduce Subscriber Churn</a:t>
            </a:r>
            <a:br>
              <a:rPr lang="en-US" sz="17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Khadija Ahmad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6400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46520" y="12984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1627632"/>
            <a:ext cx="2011680" cy="22860"/>
          </a:xfrm>
          <a:prstGeom prst="rect">
            <a:avLst/>
          </a:prstGeom>
          <a:solidFill>
            <a:srgbClr val="0F1F35">
              <a:alpha val="60000"/>
            </a:srgbClr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46520" y="2715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044952"/>
            <a:ext cx="2011680" cy="22860"/>
          </a:xfrm>
          <a:prstGeom prst="rect">
            <a:avLst/>
          </a:prstGeom>
          <a:solidFill>
            <a:srgbClr val="0F1F35">
              <a:alpha val="60000"/>
            </a:srgbClr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46520" y="4133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62844"/>
          </a:solidFill>
          <a:ln w="12700">
            <a:solidFill>
              <a:srgbClr val="1628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Haldane Group Limited  ×  Queen's University Belfast  ·  Ref: 26/113195  ·  Deadline: 10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606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260604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05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57276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9768" y="201168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3,150 subscriber records across 13 features to identify the key drivers of 15.7% churn rate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4680" y="841248"/>
            <a:ext cx="2606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154680" y="841248"/>
            <a:ext cx="260604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0058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64408" y="157276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64408" y="201168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a Random Forest ML model to predict which subscribers will churn — achieving ROC-AUC </a:t>
            </a: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200" b="1" dirty="0">
              <a:solidFill>
                <a:schemeClr val="accent4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989320" y="841248"/>
            <a:ext cx="2606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5989320" y="841248"/>
            <a:ext cx="260604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0058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99048" y="157276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099048" y="201168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AI to turn model outputs into plain-English risk reports, emails and action plans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0F1F35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502920" y="42793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</a:rPr>
              <a:t>Brief alignment: 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783080" y="427939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5"/>
                </a:solidFill>
              </a:rPr>
              <a:t>Telecom scenario · Python ML pipeline · GenAI integration (Claude) · 5 visualisations · Haldane AI strategy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1  ·  The Business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3 / 9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621792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777240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7" name="Shape 4"/>
          <p:cNvSpPr/>
          <p:nvPr/>
        </p:nvSpPr>
        <p:spPr>
          <a:xfrm>
            <a:off x="6720840" y="777240"/>
            <a:ext cx="54864" cy="82296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858000" y="822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0" y="12161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1764792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720840" y="1764792"/>
            <a:ext cx="54864" cy="82296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858000" y="181051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858000" y="220370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if complained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2752344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720840" y="2752344"/>
            <a:ext cx="54864" cy="82296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0" y="279806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0" y="319125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if account inactive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20840" y="3739896"/>
            <a:ext cx="2148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720840" y="3739896"/>
            <a:ext cx="54864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858000" y="37856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858000" y="41788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on contract plan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2  ·  Subscriber Behaviour: Retained vs Churned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4 / 9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49808"/>
            <a:ext cx="24688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400800" y="749808"/>
            <a:ext cx="54864" cy="117043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537960" y="8229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-69%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37960" y="1188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use the service 69% less — disengagement is visible months before they leave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2121408"/>
            <a:ext cx="24688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400800" y="2121408"/>
            <a:ext cx="54864" cy="117043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37960" y="21945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-62%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25603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frequency drops sharply. Low usage is a reliable early warning signal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3493008"/>
            <a:ext cx="24688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400800" y="3493008"/>
            <a:ext cx="54864" cy="1170432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537960" y="35661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+2,516%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37960" y="39319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 is 25× higher in churners — the single strongest risk signal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3  ·  Which Segments Are Most At Risk?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5 / 9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468880" cy="3977640"/>
          </a:xfrm>
          <a:prstGeom prst="rect">
            <a:avLst/>
          </a:prstGeom>
          <a:solidFill>
            <a:srgbClr val="0F1F35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537960" y="89611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37960" y="14173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960" y="1728216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 age group — highest churn across ALL tariff plans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37960" y="2167128"/>
            <a:ext cx="2240280" cy="18288"/>
          </a:xfrm>
          <a:prstGeom prst="rect">
            <a:avLst/>
          </a:prstGeom>
          <a:solidFill>
            <a:srgbClr val="162844"/>
          </a:solidFill>
          <a:ln w="12700">
            <a:solidFill>
              <a:srgbClr val="1628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537960" y="222199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960" y="2532888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age group — surprisingly zero churn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37960" y="2971800"/>
            <a:ext cx="2240280" cy="18288"/>
          </a:xfrm>
          <a:prstGeom prst="rect">
            <a:avLst/>
          </a:prstGeom>
          <a:solidFill>
            <a:srgbClr val="162844"/>
          </a:solidFill>
          <a:ln w="12700">
            <a:solidFill>
              <a:srgbClr val="1628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37960" y="302666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37960" y="333756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subscribers — consistently low across all ages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37960" y="3776472"/>
            <a:ext cx="2240280" cy="18288"/>
          </a:xfrm>
          <a:prstGeom prst="rect">
            <a:avLst/>
          </a:prstGeom>
          <a:solidFill>
            <a:srgbClr val="162844"/>
          </a:solidFill>
          <a:ln w="12700">
            <a:solidFill>
              <a:srgbClr val="1628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537960" y="383133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37960" y="4142232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— nearly 7× higher than contract rate</a:t>
            </a:r>
            <a:endParaRPr lang="en-US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876BBE-0B2F-C93D-FBB3-E374A6AF2510}"/>
              </a:ext>
            </a:extLst>
          </p:cNvPr>
          <p:cNvSpPr/>
          <p:nvPr/>
        </p:nvSpPr>
        <p:spPr>
          <a:xfrm>
            <a:off x="4994031" y="1969477"/>
            <a:ext cx="677007" cy="252778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4  ·  Revenue at Risk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6 / 9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468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400800" y="777240"/>
            <a:ext cx="54864" cy="6949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537960" y="822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£535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0" y="8229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retained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value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0" y="1581912"/>
            <a:ext cx="2468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400800" y="1581912"/>
            <a:ext cx="54864" cy="694944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37960" y="1627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72400" y="162763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churned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value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0" y="2386584"/>
            <a:ext cx="2468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400800" y="2386584"/>
            <a:ext cx="54864" cy="6949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537960" y="243230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772400" y="243230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15.7% churn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0" y="3191256"/>
            <a:ext cx="2468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400800" y="3191256"/>
            <a:ext cx="54864" cy="6949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537960" y="32369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772400" y="323697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band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3995928"/>
            <a:ext cx="2468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6400800" y="3995928"/>
            <a:ext cx="54864" cy="694944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537960" y="40416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772400" y="404164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band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15E7D5-8FD4-8519-DC7D-7774FCB7AFAA}"/>
              </a:ext>
            </a:extLst>
          </p:cNvPr>
          <p:cNvCxnSpPr/>
          <p:nvPr/>
        </p:nvCxnSpPr>
        <p:spPr>
          <a:xfrm>
            <a:off x="819804" y="1274754"/>
            <a:ext cx="324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E6A5D2D-1295-56F5-75E2-F2B1800AEC08}"/>
              </a:ext>
            </a:extLst>
          </p:cNvPr>
          <p:cNvCxnSpPr>
            <a:cxnSpLocks/>
          </p:cNvCxnSpPr>
          <p:nvPr/>
        </p:nvCxnSpPr>
        <p:spPr>
          <a:xfrm>
            <a:off x="1138868" y="1272772"/>
            <a:ext cx="0" cy="23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65D364-28AE-E160-71C1-B9B4910EE845}"/>
              </a:ext>
            </a:extLst>
          </p:cNvPr>
          <p:cNvCxnSpPr/>
          <p:nvPr/>
        </p:nvCxnSpPr>
        <p:spPr>
          <a:xfrm>
            <a:off x="2742442" y="1319047"/>
            <a:ext cx="324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37A3C-F580-A67B-B18F-164F20B9A60A}"/>
              </a:ext>
            </a:extLst>
          </p:cNvPr>
          <p:cNvCxnSpPr>
            <a:cxnSpLocks/>
          </p:cNvCxnSpPr>
          <p:nvPr/>
        </p:nvCxnSpPr>
        <p:spPr>
          <a:xfrm>
            <a:off x="3069762" y="1319047"/>
            <a:ext cx="0" cy="23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71185C3-5A64-9B56-A38E-DBA73BF1DE2E}"/>
              </a:ext>
            </a:extLst>
          </p:cNvPr>
          <p:cNvSpPr txBox="1"/>
          <p:nvPr/>
        </p:nvSpPr>
        <p:spPr>
          <a:xfrm>
            <a:off x="2387343" y="1220698"/>
            <a:ext cx="5037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15.7%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D677B8-D954-306D-4EA9-9D84335E9FD0}"/>
              </a:ext>
            </a:extLst>
          </p:cNvPr>
          <p:cNvSpPr txBox="1"/>
          <p:nvPr/>
        </p:nvSpPr>
        <p:spPr>
          <a:xfrm>
            <a:off x="509030" y="1172744"/>
            <a:ext cx="5037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4.2%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5276C7-DC97-3F33-C2AA-52450069F7E6}"/>
              </a:ext>
            </a:extLst>
          </p:cNvPr>
          <p:cNvSpPr/>
          <p:nvPr/>
        </p:nvSpPr>
        <p:spPr>
          <a:xfrm>
            <a:off x="4457700" y="1674935"/>
            <a:ext cx="1760220" cy="232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5  ·  Machine Learning Model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7 / 9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468880" cy="3977640"/>
          </a:xfrm>
          <a:prstGeom prst="rect">
            <a:avLst/>
          </a:prstGeom>
          <a:solidFill>
            <a:srgbClr val="0F1F35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537960" y="8961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Scorecard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37960" y="14173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43800" y="1417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169164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perfect (1.0)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37960" y="1929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43800" y="192938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22037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±0.003 — stable &amp; generalises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37960" y="2441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43800" y="244144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27157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caught before leaving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37960" y="29535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43800" y="29535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37960" y="322783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alarm rate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37960" y="34655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43800" y="346557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37960" y="373989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537960" y="3977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543800" y="3977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537960" y="42519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630 unseen subscribers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Integration 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8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828800" cy="84124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Subscribers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0.984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21408" y="1170432"/>
            <a:ext cx="228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377440" y="804672"/>
            <a:ext cx="1828800" cy="84124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377440" y="8046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At-Risk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churn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value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24528" y="1170432"/>
            <a:ext cx="228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480560" y="804672"/>
            <a:ext cx="1828800" cy="8412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80560" y="8046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per Profile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27648" y="1170432"/>
            <a:ext cx="228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583680" y="804672"/>
            <a:ext cx="1828800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583680" y="8046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1F3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0F1F3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18470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Retention Hub — 5 Automated Modules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54864" cy="749808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87168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41248" y="2404872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Scanner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" y="269748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subscriber profile → instant churn risk score + recommended actions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320954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274320" y="3209544"/>
            <a:ext cx="54864" cy="7498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64992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41248" y="3282696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41248" y="357530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with full dataset context baked into the system prompt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74320" y="4087368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8"/>
          <p:cNvSpPr/>
          <p:nvPr/>
        </p:nvSpPr>
        <p:spPr>
          <a:xfrm>
            <a:off x="274320" y="4087368"/>
            <a:ext cx="54864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42816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1248" y="416052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Email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41248" y="445312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personalised outreach email from account manager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709160" y="2331720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2"/>
          <p:cNvSpPr/>
          <p:nvPr/>
        </p:nvSpPr>
        <p:spPr>
          <a:xfrm>
            <a:off x="4709160" y="2331720"/>
            <a:ext cx="54864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87168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76088" y="2404872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Builder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276088" y="269748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targeted retention offer by subscriber segment and churn reason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4709160" y="320954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6"/>
          <p:cNvSpPr/>
          <p:nvPr/>
        </p:nvSpPr>
        <p:spPr>
          <a:xfrm>
            <a:off x="4709160" y="3209544"/>
            <a:ext cx="54864" cy="74980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364992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276088" y="3282696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5276088" y="357530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30/90-day retention plan with KPIs and CRM integration steps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 ·  Where Haldane Group Could Apply This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SLIDE 9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4320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84048" y="1783080"/>
            <a:ext cx="9144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66928" y="1691640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at-risk customer list from K8 ERP transaction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532888"/>
            <a:ext cx="9144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6928" y="244144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account manager outreach via Phocas 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282696"/>
            <a:ext cx="9144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66928" y="3191256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triage automation using NLP on service records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4032504"/>
            <a:ext cx="9144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66928" y="394106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early-warning dashboard embedded in Phocas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749808"/>
            <a:ext cx="2743200" cy="71323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182112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182112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82112" y="1572768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91840" y="1783080"/>
            <a:ext cx="91440" cy="914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474720" y="1691640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scoring for proactive outreach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532888"/>
            <a:ext cx="91440" cy="914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474720" y="244144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stock ordering using purchase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82696"/>
            <a:ext cx="91440" cy="914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474720" y="3191256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trade counter product recommendations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4032504"/>
            <a:ext cx="91440" cy="914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474720" y="394106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modelling for contract renewal offers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9904" y="749808"/>
            <a:ext cx="2743200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089904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089904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9904" y="1572768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199632" y="1783080"/>
            <a:ext cx="9144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382512" y="1691640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K8 ERP integration — churn flags in daily workflow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2532888"/>
            <a:ext cx="9144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382512" y="244144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pricing intelligence vs competitor offers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99632" y="3282696"/>
            <a:ext cx="9144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382512" y="3191256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AI retention campaigns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99632" y="4032504"/>
            <a:ext cx="9144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382512" y="3941064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personalised trade account proposals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</a:rPr>
              <a:t>This project architecture — ML prediction + GenAI automation — maps directly onto Haldane's K8 ERP + Phocas BI stack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1556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Visualisations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4447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Churn overview · Behaviour comparison · Segment heatmap · Revenue impact · ML results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8424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9280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 —  ROC-AUC 0.984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60120" y="22219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Catches 84.8% of churners · Stable across 5-fold CV · Class imbalance handled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6148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67004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(Claude)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60120" y="29992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documented uses: code structuring · risk report generation · retention automation hub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3872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44728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60120" y="37764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· Complaints · PAYG tariff are top 3 churn drivers · 46–55 age group highest risk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5968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422452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Haldane AI Strategy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960120" y="455371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Embed in K8 + Phocas · Weekly at-risk list · Account manager outreach automation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720840" y="475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0" name="Text 13"/>
          <p:cNvSpPr/>
          <p:nvPr/>
        </p:nvSpPr>
        <p:spPr>
          <a:xfrm>
            <a:off x="6720840" y="822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charts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 Hub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949440" y="1371600"/>
            <a:ext cx="1828800" cy="22860"/>
          </a:xfrm>
          <a:prstGeom prst="rect">
            <a:avLst/>
          </a:prstGeom>
          <a:solidFill>
            <a:srgbClr val="0F1F35">
              <a:alpha val="60000"/>
            </a:srgbClr>
          </a:solidFill>
          <a:ln w="12700">
            <a:solidFill>
              <a:srgbClr val="0F1F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5"/>
          <p:cNvSpPr/>
          <p:nvPr/>
        </p:nvSpPr>
        <p:spPr>
          <a:xfrm>
            <a:off x="6720840" y="15087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3" name="Shape 16"/>
          <p:cNvSpPr/>
          <p:nvPr/>
        </p:nvSpPr>
        <p:spPr>
          <a:xfrm>
            <a:off x="6784848" y="1920240"/>
            <a:ext cx="914400" cy="347472"/>
          </a:xfrm>
          <a:prstGeom prst="rect">
            <a:avLst/>
          </a:prstGeom>
          <a:solidFill>
            <a:srgbClr val="0F1F35">
              <a:alpha val="75000"/>
            </a:srgbClr>
          </a:solidFill>
          <a:ln w="6350">
            <a:solidFill>
              <a:srgbClr val="0F1F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6784848" y="1920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Shape 18"/>
          <p:cNvSpPr/>
          <p:nvPr/>
        </p:nvSpPr>
        <p:spPr>
          <a:xfrm>
            <a:off x="7790688" y="1920240"/>
            <a:ext cx="914400" cy="347472"/>
          </a:xfrm>
          <a:prstGeom prst="rect">
            <a:avLst/>
          </a:prstGeom>
          <a:solidFill>
            <a:srgbClr val="0F1F35">
              <a:alpha val="75000"/>
            </a:srgbClr>
          </a:solidFill>
          <a:ln w="6350">
            <a:solidFill>
              <a:srgbClr val="0F1F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9"/>
          <p:cNvSpPr/>
          <p:nvPr/>
        </p:nvSpPr>
        <p:spPr>
          <a:xfrm>
            <a:off x="7790688" y="1920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Shape 20"/>
          <p:cNvSpPr/>
          <p:nvPr/>
        </p:nvSpPr>
        <p:spPr>
          <a:xfrm>
            <a:off x="6784848" y="2423160"/>
            <a:ext cx="914400" cy="347472"/>
          </a:xfrm>
          <a:prstGeom prst="rect">
            <a:avLst/>
          </a:prstGeom>
          <a:solidFill>
            <a:srgbClr val="0F1F35">
              <a:alpha val="75000"/>
            </a:srgbClr>
          </a:solidFill>
          <a:ln w="6350">
            <a:solidFill>
              <a:srgbClr val="0F1F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6784848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>
            <a:off x="7790688" y="2423160"/>
            <a:ext cx="914400" cy="347472"/>
          </a:xfrm>
          <a:prstGeom prst="rect">
            <a:avLst/>
          </a:prstGeom>
          <a:solidFill>
            <a:srgbClr val="0F1F35">
              <a:alpha val="75000"/>
            </a:srgbClr>
          </a:solidFill>
          <a:ln w="6350">
            <a:solidFill>
              <a:srgbClr val="0F1F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3"/>
          <p:cNvSpPr/>
          <p:nvPr/>
        </p:nvSpPr>
        <p:spPr>
          <a:xfrm>
            <a:off x="7790688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784848" y="2926080"/>
            <a:ext cx="914400" cy="347472"/>
          </a:xfrm>
          <a:prstGeom prst="rect">
            <a:avLst/>
          </a:prstGeom>
          <a:solidFill>
            <a:srgbClr val="0F1F35">
              <a:alpha val="75000"/>
            </a:srgbClr>
          </a:solidFill>
          <a:ln w="6350">
            <a:solidFill>
              <a:srgbClr val="0F1F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2" name="Text 25"/>
          <p:cNvSpPr/>
          <p:nvPr/>
        </p:nvSpPr>
        <p:spPr>
          <a:xfrm>
            <a:off x="6784848" y="2926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3" name="Shape 26"/>
          <p:cNvSpPr/>
          <p:nvPr/>
        </p:nvSpPr>
        <p:spPr>
          <a:xfrm>
            <a:off x="7790688" y="2926080"/>
            <a:ext cx="914400" cy="347472"/>
          </a:xfrm>
          <a:prstGeom prst="rect">
            <a:avLst/>
          </a:prstGeom>
          <a:solidFill>
            <a:srgbClr val="0F1F35">
              <a:alpha val="75000"/>
            </a:srgbClr>
          </a:solidFill>
          <a:ln w="6350">
            <a:solidFill>
              <a:srgbClr val="0F1F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7790688" y="2926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Shape 28"/>
          <p:cNvSpPr/>
          <p:nvPr/>
        </p:nvSpPr>
        <p:spPr>
          <a:xfrm>
            <a:off x="6583680" y="4343400"/>
            <a:ext cx="2560320" cy="800100"/>
          </a:xfrm>
          <a:prstGeom prst="rect">
            <a:avLst/>
          </a:prstGeom>
          <a:solidFill>
            <a:srgbClr val="162844"/>
          </a:solidFill>
          <a:ln w="12700">
            <a:solidFill>
              <a:srgbClr val="1628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29"/>
          <p:cNvSpPr/>
          <p:nvPr/>
        </p:nvSpPr>
        <p:spPr>
          <a:xfrm>
            <a:off x="6583680" y="4343400"/>
            <a:ext cx="256032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4786</TotalTime>
  <Words>744</Words>
  <Application>Microsoft Office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Churn Prediction — KTP Recruitment Project</dc:title>
  <dc:subject>PptxGenJS Presentation</dc:subject>
  <dc:creator>KTP Candidate</dc:creator>
  <cp:lastModifiedBy>Khadija Ahmad</cp:lastModifiedBy>
  <cp:revision>4</cp:revision>
  <dcterms:created xsi:type="dcterms:W3CDTF">2026-04-06T12:56:39Z</dcterms:created>
  <dcterms:modified xsi:type="dcterms:W3CDTF">2026-04-09T21:01:52Z</dcterms:modified>
</cp:coreProperties>
</file>